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2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rot="5400000">
            <a:off x="8183880" y="1325880"/>
            <a:ext cx="2011680" cy="4206240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2359152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103120"/>
            <a:ext cx="1417320" cy="0"/>
          </a:xfrm>
          <a:prstGeom prst="line">
            <a:avLst/>
          </a:prstGeom>
          <a:noFill/>
          <a:ln w="10160">
            <a:solidFill>
              <a:srgbClr val="FFFFFF">
                <a:alpha val="26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89720" y="4754880"/>
            <a:ext cx="1417320" cy="0"/>
          </a:xfrm>
          <a:prstGeom prst="line">
            <a:avLst/>
          </a:prstGeom>
          <a:noFill/>
          <a:ln w="10160">
            <a:solidFill>
              <a:srgbClr val="FFFFFF">
                <a:alpha val="26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640080" y="438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4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EXPERIENCE REVIEW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0058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spc="130" kern="0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COURTSIDE TW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19072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使用者沉浸模擬與</a:t>
            </a:r>
            <a:endParaRPr lang="en-US" sz="3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產品定義檢驗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333756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C3B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如何成為隱形的收藏、身份與溯源基礎設施；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9C3B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同時守住「一本為台灣籃球而生的數位雜誌」。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" y="466344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6634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目標體驗模擬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139696" y="466344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46634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非已上線實測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602736" y="46634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4663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main@8a3a71d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6400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400" b="1" dirty="0">
                <a:solidFill>
                  <a:srgbClr val="2B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104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23317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/ EXPERIENCE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5943600"/>
            <a:ext cx="10881360" cy="0"/>
          </a:xfrm>
          <a:prstGeom prst="line">
            <a:avLst/>
          </a:prstGeom>
          <a:noFill/>
          <a:ln w="8890">
            <a:solidFill>
              <a:srgbClr val="33312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676656" y="6144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E8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Mark · 2026-08-08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6144768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30" spc="70" kern="0" dirty="0">
                <a:solidFill>
                  <a:srgbClr val="8E8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TAIWAN HOOPS ARCHIVE × FAN SEASON PASSPORT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 CHECK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規格完整，不等於體驗已存在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先把目前可驗證的 implementation 與目標體驗分開。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1828800"/>
            <a:ext cx="5623560" cy="3493008"/>
          </a:xfrm>
          <a:prstGeom prst="roundRect">
            <a:avLst>
              <a:gd name="adj" fmla="val 3141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apps/web/app/app.vue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432304"/>
            <a:ext cx="5047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F5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&lt;main data-ssr-smoke="true"&gt;</a:t>
            </a:r>
            <a:endParaRPr lang="en-US" sz="13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F5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&lt;p&gt;Taiwan Hoops Archive&lt;/p&gt;</a:t>
            </a:r>
            <a:endParaRPr lang="en-US" sz="13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F5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&lt;h1&gt;Courtside TW&lt;/h1&gt;</a:t>
            </a:r>
            <a:endParaRPr lang="en-US" sz="13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F5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&lt;p&gt;Nuxt 4.5 SSR scaffold is ready.&lt;/p&gt;</a:t>
            </a:r>
            <a:endParaRPr lang="en-US" sz="132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20" dirty="0">
                <a:solidFill>
                  <a:srgbClr val="F5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&lt;/main&gt;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50392" y="4334256"/>
            <a:ext cx="5047488" cy="621792"/>
          </a:xfrm>
          <a:prstGeom prst="roundRect">
            <a:avLst>
              <a:gd name="adj" fmla="val 8824"/>
            </a:avLst>
          </a:prstGeom>
          <a:solidFill>
            <a:srgbClr val="272725"/>
          </a:solidFill>
          <a:ln w="12700">
            <a:solidFill>
              <a:srgbClr val="27272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416552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CFC8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目前只能證明 SSR scaffold 可載入；尚不能證明雜誌閱讀、Provenance、Stamp 或 Passport 的可用性。</a:t>
            </a:r>
            <a:endParaRPr lang="en-US" sz="107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已成立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20840" y="2350008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3362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022592" y="232257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Issue-first、anonymous-first、free-first 的產品契約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2779776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7660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22592" y="2752344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Arena Editorial 視覺與三次操作閱讀預算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3209544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31958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3182112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optional、no-token、no-wallet-to-read 邊界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尚未成立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20840" y="4370832"/>
            <a:ext cx="201168" cy="201168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357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434340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可操作的首頁／期刊／文章閱讀旅程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4800600"/>
            <a:ext cx="201168" cy="201168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47868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4773168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讀者版本驗證、Reader Stamp 與 Season Passport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5230368"/>
            <a:ext cx="201168" cy="201168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52166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22592" y="520293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真實使用者任務成功率與回訪證據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" y="5806440"/>
            <a:ext cx="10981944" cy="438912"/>
          </a:xfrm>
          <a:prstGeom prst="roundRect">
            <a:avLst>
              <a:gd name="adj" fmla="val 16667"/>
            </a:avLst>
          </a:prstGeom>
          <a:solidFill>
            <a:srgbClr val="F2D7D1"/>
          </a:solidFill>
          <a:ln w="7620">
            <a:solidFill>
              <a:srgbClr val="E7B4A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87044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本簡報是「依規格推演的目標體驗」＋「對現況落差的審查」，不是把文件中的功能當作已上線。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apps/web/app/app.vue · README.md · DESIGN.md · main@8a3a71d</a:t>
            </a:r>
            <a:endParaRPr lang="en-US" sz="630" dirty="0"/>
          </a:p>
        </p:txBody>
      </p:sp>
      <p:sp>
        <p:nvSpPr>
          <p:cNvPr id="34" name="Text 32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VERDICT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產品方向成立；實作證據尚未成立。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規格把雜誌、檔案與 Web3 的角色切得夠清楚，下一步是證明使用者真的這樣理解。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2633472" cy="1078992"/>
          </a:xfrm>
          <a:prstGeom prst="roundRect">
            <a:avLst>
              <a:gd name="adj" fmla="val 9322"/>
            </a:avLst>
          </a:prstGeom>
          <a:solidFill>
            <a:srgbClr val="20201F"/>
          </a:solidFill>
          <a:ln w="8890">
            <a:solidFill>
              <a:srgbClr val="3331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299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雜誌定義鮮明度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19842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" y="2404872"/>
            <a:ext cx="2304288" cy="73152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404872"/>
            <a:ext cx="1958645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5603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EB7A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Issue、TOC、長文、closure 與下一篇形成完整閱讀儀式。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401568" y="1920240"/>
            <a:ext cx="2633472" cy="1078992"/>
          </a:xfrm>
          <a:prstGeom prst="roundRect">
            <a:avLst>
              <a:gd name="adj" fmla="val 9322"/>
            </a:avLst>
          </a:prstGeom>
          <a:solidFill>
            <a:srgbClr val="20201F"/>
          </a:solidFill>
          <a:ln w="8890">
            <a:solidFill>
              <a:srgbClr val="333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0299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語意與克制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9842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2404872"/>
            <a:ext cx="2304288" cy="73152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2404872"/>
            <a:ext cx="2073859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25603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EB7A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不要求錢包、不交易、不以鏈上等同真實；定位正確。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181344" y="1920240"/>
            <a:ext cx="2633472" cy="1078992"/>
          </a:xfrm>
          <a:prstGeom prst="roundRect">
            <a:avLst>
              <a:gd name="adj" fmla="val 9322"/>
            </a:avLst>
          </a:prstGeom>
          <a:solidFill>
            <a:srgbClr val="20201F"/>
          </a:solidFill>
          <a:ln w="8890">
            <a:solidFill>
              <a:srgbClr val="3331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5936" y="20299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操作習慣差異化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0416" y="19842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45936" y="2404872"/>
            <a:ext cx="2304288" cy="73152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2404872"/>
            <a:ext cx="1843430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25603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EB7A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保留翻閱與期號感，但加入版本、續讀、跨季累積。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961120" y="1920240"/>
            <a:ext cx="2633472" cy="1078992"/>
          </a:xfrm>
          <a:prstGeom prst="roundRect">
            <a:avLst>
              <a:gd name="adj" fmla="val 9322"/>
            </a:avLst>
          </a:prstGeom>
          <a:solidFill>
            <a:srgbClr val="20201F"/>
          </a:solidFill>
          <a:ln w="8890">
            <a:solidFill>
              <a:srgbClr val="333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202996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目前可操作性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680192" y="19842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25712" y="2404872"/>
            <a:ext cx="2304288" cy="73152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2404872"/>
            <a:ext cx="230429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25712" y="256032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EB7A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 只有 SSR smoke scaffold，無法進行真實任務測試。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8862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389888" y="38679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使用者先感受內容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89888" y="431596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8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入口是最新一期與主題，不是錢包、積分或收藏品。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38862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38679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Web3 在價值之後出場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31596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8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先閱讀、再完成、再收藏；最後才是可選的 credential delivery。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662672" y="38862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8394192" y="38679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雜誌感要靠行為守住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394192" y="431596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8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禁止無限 feed、水平滑卡與過早 gamification 稀釋編輯順序。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368" y="5440680"/>
            <a:ext cx="64008" cy="713232"/>
          </a:xfrm>
          <a:prstGeom prst="roundRect">
            <a:avLst>
              <a:gd name="adj" fmla="val 2857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6968" y="54406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真正的 Web3 沉浸，不是讓使用者一直看到 Web3；而是讓「我讀過、我參與、這一版可驗證」能長期成立。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based on product docs and current repository state; scores are evaluative judgments, not measured usability metrics.</a:t>
            </a:r>
            <a:endParaRPr lang="en-US" sz="630" dirty="0"/>
          </a:p>
        </p:txBody>
      </p:sp>
      <p:sp>
        <p:nvSpPr>
          <p:cNvPr id="42" name="Text 40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MENTAL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我不是來用 Web3，我是來讀懂台籃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沉浸的核心，是把一次閱讀變成可回到、可驗證、可累積的文化記憶。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21992" y="3063240"/>
            <a:ext cx="795528" cy="0"/>
          </a:xfrm>
          <a:prstGeom prst="line">
            <a:avLst/>
          </a:prstGeom>
          <a:noFill/>
          <a:ln w="1524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679192" y="2935224"/>
            <a:ext cx="256032" cy="256032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1481328" cy="1481328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24140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9136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台籃事件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7083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比賽／人物／主場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3063240"/>
            <a:ext cx="795528" cy="0"/>
          </a:xfrm>
          <a:prstGeom prst="line">
            <a:avLst/>
          </a:prstGeom>
          <a:noFill/>
          <a:ln w="1524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892040" y="2935224"/>
            <a:ext cx="256032" cy="256032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258568"/>
            <a:ext cx="1481328" cy="148132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11296" y="24140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07792" y="39136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編輯敘事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437083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採訪／證據／脈絡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47688" y="3063240"/>
            <a:ext cx="795528" cy="0"/>
          </a:xfrm>
          <a:prstGeom prst="line">
            <a:avLst/>
          </a:prstGeom>
          <a:noFill/>
          <a:ln w="1524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104888" y="2935224"/>
            <a:ext cx="256032" cy="256032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2258568"/>
            <a:ext cx="1481328" cy="1481328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24144" y="24140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9136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一期雜誌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437083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主題／章節／順序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60536" y="3063240"/>
            <a:ext cx="795528" cy="0"/>
          </a:xfrm>
          <a:prstGeom prst="line">
            <a:avLst/>
          </a:prstGeom>
          <a:noFill/>
          <a:ln w="1524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17736" y="2935224"/>
            <a:ext cx="256032" cy="256032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2258568"/>
            <a:ext cx="1481328" cy="1481328"/>
          </a:xfrm>
          <a:prstGeom prst="ellipse">
            <a:avLst/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36992" y="24140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39136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可驗證版本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437083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revision／digest／rights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56064" y="2258568"/>
            <a:ext cx="1481328" cy="14813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9840" y="241401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39136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我的球迷記憶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491472" y="4370832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Stamp／Passport／Recap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50976" y="5184648"/>
            <a:ext cx="10296144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D1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43000" y="53492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使用者感受到的順序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743200" y="5266944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「先被故事吸引」 → 「理解這一期的編輯觀點」 → 「信任這個版本」 → 「把它放進自己的賽季記憶」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README.md §1–3 · DESIGN.md §2–4 · docs/product/fan-season-passport.md</a:t>
            </a:r>
            <a:endParaRPr lang="en-US" sz="630" dirty="0"/>
          </a:p>
        </p:txBody>
      </p:sp>
      <p:sp>
        <p:nvSpPr>
          <p:cNvPr id="38" name="Text 36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 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沉浸感不是特效，是價值逐步揭露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可見度應在閱讀完成後才上升，並且永遠不成為公開閱讀的依賴。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2907792"/>
            <a:ext cx="9966960" cy="0"/>
          </a:xfrm>
          <a:prstGeom prst="line">
            <a:avLst/>
          </a:prstGeom>
          <a:noFill/>
          <a:ln w="25400">
            <a:solidFill>
              <a:srgbClr val="46444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22960" y="2578608"/>
            <a:ext cx="658368" cy="658368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發現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最新一期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0%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633472" y="2578608"/>
            <a:ext cx="658368" cy="658368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33472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40864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定向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21992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封面＋TOC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知道從哪讀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59152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12848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0%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4443984" y="2578608"/>
            <a:ext cx="658368" cy="658368"/>
          </a:xfrm>
          <a:prstGeom prst="ellipse">
            <a:avLst/>
          </a:prstGeom>
          <a:solidFill>
            <a:srgbClr val="F4F0E8"/>
          </a:solidFill>
          <a:ln w="12700">
            <a:solidFill>
              <a:srgbClr val="F4F0E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43984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51376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閱讀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032504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長文＋媒體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4032504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投入故事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9664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0%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254496" y="2578608"/>
            <a:ext cx="658368" cy="658368"/>
          </a:xfrm>
          <a:prstGeom prst="ellipse">
            <a:avLst/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54496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61888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確認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843016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版本與來源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5843016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信任此版本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0176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0176" y="4754880"/>
            <a:ext cx="482803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33872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10%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8065008" y="2578608"/>
            <a:ext cx="658368" cy="658368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65008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收藏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653528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Reader Stamp</a:t>
            </a:r>
            <a:endParaRPr lang="en-US" sz="960" dirty="0"/>
          </a:p>
        </p:txBody>
      </p:sp>
      <p:sp>
        <p:nvSpPr>
          <p:cNvPr id="39" name="Text 37"/>
          <p:cNvSpPr txBox="1"/>
          <p:nvPr/>
        </p:nvSpPr>
        <p:spPr>
          <a:xfrm>
            <a:off x="7653528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留下參與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90688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0688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44384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25%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9875520" y="2578608"/>
            <a:ext cx="658368" cy="6583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75520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582912" y="343814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回訪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464040" y="38404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C8C1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Season Passport</a:t>
            </a:r>
            <a:endParaRPr lang="en-US" sz="960" dirty="0"/>
          </a:p>
        </p:txBody>
      </p:sp>
      <p:sp>
        <p:nvSpPr>
          <p:cNvPr id="47" name="Text 45"/>
          <p:cNvSpPr txBox="1"/>
          <p:nvPr/>
        </p:nvSpPr>
        <p:spPr>
          <a:xfrm>
            <a:off x="9464040" y="4233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看到累積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01200" y="4754880"/>
            <a:ext cx="1207008" cy="73152"/>
          </a:xfrm>
          <a:prstGeom prst="roundRect">
            <a:avLst>
              <a:gd name="adj" fmla="val 50000"/>
            </a:avLst>
          </a:prstGeom>
          <a:solidFill>
            <a:srgbClr val="383735"/>
          </a:solidFill>
          <a:ln w="12700">
            <a:solidFill>
              <a:srgbClr val="38373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0" y="4754880"/>
            <a:ext cx="724205" cy="73152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454896" y="49194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8D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可見度 15%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777240" y="5532120"/>
            <a:ext cx="10652760" cy="548640"/>
          </a:xfrm>
          <a:prstGeom prst="roundRect">
            <a:avLst>
              <a:gd name="adj" fmla="val 15000"/>
            </a:avLst>
          </a:prstGeom>
          <a:solidFill>
            <a:srgbClr val="212120"/>
          </a:solidFill>
          <a:ln w="7620">
            <a:solidFill>
              <a:srgbClr val="34333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60120" y="5669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2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體驗原則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965960" y="5596128"/>
            <a:ext cx="9125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閱讀前：看不到錢包　｜　閱讀中：看不到鏈　｜　閱讀後：看懂收藏價值　｜　外部服務故障：文章仍完整可讀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Source-derived boundary: anonymous reading remains P1 baseline; Web3/provenance/passport must degrade without blocking content.</a:t>
            </a:r>
            <a:endParaRPr lang="en-US" sz="630" dirty="0"/>
          </a:p>
        </p:txBody>
      </p:sp>
      <p:sp>
        <p:nvSpPr>
          <p:cNvPr id="56" name="Text 54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01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首頁：先看見一期雜誌，不是功能選單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首次訪客的第一個問題是「這一期在談什麼？」而不是「我要連哪個錢包？」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19072"/>
            <a:ext cx="2971800" cy="4553712"/>
          </a:xfrm>
          <a:prstGeom prst="roundRect">
            <a:avLst>
              <a:gd name="adj" fmla="val 7692"/>
            </a:avLst>
          </a:prstGeom>
          <a:solidFill>
            <a:srgbClr val="141414"/>
          </a:solidFill>
          <a:ln w="10160">
            <a:solidFill>
              <a:srgbClr val="4A4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810512"/>
            <a:ext cx="2807208" cy="4370832"/>
          </a:xfrm>
          <a:prstGeom prst="roundRect">
            <a:avLst>
              <a:gd name="adj" fmla="val 6189"/>
            </a:avLst>
          </a:prstGeom>
          <a:solidFill>
            <a:srgbClr val="1C1C1B"/>
          </a:solidFill>
          <a:ln w="12700">
            <a:solidFill>
              <a:srgbClr val="1C1C1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2808" y="1792224"/>
            <a:ext cx="832104" cy="91440"/>
          </a:xfrm>
          <a:prstGeom prst="roundRect">
            <a:avLst>
              <a:gd name="adj" fmla="val 50000"/>
            </a:avLst>
          </a:prstGeom>
          <a:solidFill>
            <a:srgbClr val="343331"/>
          </a:solidFill>
          <a:ln w="12700">
            <a:solidFill>
              <a:srgbClr val="34333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20665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100" kern="0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COURTSIDE TW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596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4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07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2816352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2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D8D1C5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主場不是場館，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D8D1C5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是城市如何記住一支球隊。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2990088" y="2496312"/>
            <a:ext cx="566928" cy="2514600"/>
          </a:xfrm>
          <a:prstGeom prst="parallelogram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5029200"/>
            <a:ext cx="2322576" cy="502920"/>
          </a:xfrm>
          <a:prstGeom prst="roundRect">
            <a:avLst>
              <a:gd name="adj" fmla="val 18182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88136" y="504748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閱讀本期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56692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瀏覽目錄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5669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過往期刊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18836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使用者感受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389120" y="2331720"/>
            <a:ext cx="64008" cy="658368"/>
          </a:xfrm>
          <a:prstGeom prst="roundRect">
            <a:avLst>
              <a:gd name="adj" fmla="val 2857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33172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「這像一本有封面、有主題、有期號的台籃雜誌。」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2552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三次操作預算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07408" y="3675888"/>
            <a:ext cx="192024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255">
            <a:solidFill>
              <a:srgbClr val="D8D1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44568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93208" y="3767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查看本期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27648" y="4142232"/>
            <a:ext cx="228600" cy="0"/>
          </a:xfrm>
          <a:prstGeom prst="line">
            <a:avLst/>
          </a:prstGeom>
          <a:noFill/>
          <a:ln w="1270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556248" y="3675888"/>
            <a:ext cx="192024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255">
            <a:solidFill>
              <a:srgbClr val="D8D1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3767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期刊頁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93408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前往目錄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476488" y="4142232"/>
            <a:ext cx="228600" cy="0"/>
          </a:xfrm>
          <a:prstGeom prst="line">
            <a:avLst/>
          </a:prstGeom>
          <a:noFill/>
          <a:ln w="1270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705088" y="3675888"/>
            <a:ext cx="192024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255">
            <a:solidFill>
              <a:srgbClr val="D8D1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42248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90888" y="37673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 TOC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842248" y="41879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選擇文章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首頁不可出現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5440680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E4DED3"/>
          </a:solidFill>
          <a:ln w="12700">
            <a:solidFill>
              <a:srgbClr val="E4DED3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544068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WALLET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08192" y="5440680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4DED3"/>
          </a:solidFill>
          <a:ln w="12700">
            <a:solidFill>
              <a:srgbClr val="E4DED3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99632" y="5440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77456" y="544068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E4DED3"/>
          </a:solidFill>
          <a:ln w="12700">
            <a:solidFill>
              <a:srgbClr val="E4DED3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544068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93024" y="5440680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E4DED3"/>
          </a:solidFill>
          <a:ln w="12700">
            <a:solidFill>
              <a:srgbClr val="E4DED3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84464" y="544068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407408" y="5843016"/>
            <a:ext cx="6291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原因：它們會把心智模型從「雜誌」改寫成「功能平台」。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DESIGN.md §2.1, §4.1, §5.1 · ADR-0004/0006 · simulation copy is illustrative.</a:t>
            </a:r>
            <a:endParaRPr lang="en-US" sz="630" dirty="0"/>
          </a:p>
        </p:txBody>
      </p:sp>
      <p:sp>
        <p:nvSpPr>
          <p:cNvPr id="47" name="Text 45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02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期刊頁：用章節與順序建立雜誌感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 TOC、清楚章節與固定編輯順序，比水平滑卡更像一本真正的雜誌。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" y="1719072"/>
            <a:ext cx="2788920" cy="457200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C9C3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0512"/>
            <a:ext cx="2624328" cy="4389120"/>
          </a:xfrm>
          <a:prstGeom prst="roundRect">
            <a:avLst>
              <a:gd name="adj" fmla="val 6620"/>
            </a:avLst>
          </a:prstGeom>
          <a:solidFill>
            <a:srgbClr val="F4F0E8"/>
          </a:solidFill>
          <a:ln w="12700">
            <a:solidFill>
              <a:srgbClr val="F4F0E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0395" y="1792224"/>
            <a:ext cx="780898" cy="91440"/>
          </a:xfrm>
          <a:prstGeom prst="roundRect">
            <a:avLst>
              <a:gd name="adj" fmla="val 50000"/>
            </a:avLst>
          </a:prstGeom>
          <a:solidFill>
            <a:srgbClr val="BEB8AE"/>
          </a:solidFill>
          <a:ln w="12700">
            <a:solidFill>
              <a:srgbClr val="BEB8A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848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12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07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3230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COURT</a:t>
            </a:r>
            <a:endParaRPr lang="en-US" sz="2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89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4A484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城市、主場與球迷文化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1051560" y="3319272"/>
            <a:ext cx="2240280" cy="0"/>
          </a:xfrm>
          <a:prstGeom prst="line">
            <a:avLst/>
          </a:prstGeom>
          <a:noFill/>
          <a:ln w="13970">
            <a:solidFill>
              <a:srgbClr val="14141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1051560" y="35295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35112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主場宣言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37764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球隊如何被城市記住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051560" y="4069080"/>
            <a:ext cx="2240280" cy="0"/>
          </a:xfrm>
          <a:prstGeom prst="line">
            <a:avLst/>
          </a:prstGeom>
          <a:noFill/>
          <a:ln w="6985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1051560" y="41879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41696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Film Room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44348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主場節奏如何改變比賽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051560" y="4727448"/>
            <a:ext cx="2240280" cy="0"/>
          </a:xfrm>
          <a:prstGeom prst="line">
            <a:avLst/>
          </a:prstGeom>
          <a:noFill/>
          <a:ln w="6985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1051560" y="48463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36192" y="4828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人物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5093208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應援團長的 48 小時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51560" y="5385816"/>
            <a:ext cx="2240280" cy="0"/>
          </a:xfrm>
          <a:prstGeom prst="line">
            <a:avLst/>
          </a:prstGeom>
          <a:noFill/>
          <a:ln w="6985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1051560" y="55046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5486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檔案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1536192" y="575157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十年票根與球迷口述史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051560" y="6044184"/>
            <a:ext cx="2240280" cy="0"/>
          </a:xfrm>
          <a:prstGeom prst="line">
            <a:avLst/>
          </a:prstGeom>
          <a:noFill/>
          <a:ln w="6985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1051560" y="5971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回到封面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1883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為什麼這裡像雜誌？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160520" y="2468880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0520" y="24551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62272" y="2441448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期號與主題先於文章推薦演算法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60520" y="2916936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60520" y="29032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462272" y="288950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章節、順序、封面與編輯 closure 共同形成閱讀儀式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3364992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0520" y="3351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462272" y="3337560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文章連結在 SSR TOC 直接可見，不被登入或錢包擋住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3813048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0520" y="37993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462272" y="3785616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使用者可以跳讀，但產品仍清楚表達「本期如何被策展」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60520" y="4498848"/>
            <a:ext cx="6858000" cy="987552"/>
          </a:xfrm>
          <a:prstGeom prst="roundRect">
            <a:avLst>
              <a:gd name="adj" fmla="val 9259"/>
            </a:avLst>
          </a:prstGeom>
          <a:solidFill>
            <a:srgbClr val="212120"/>
          </a:solidFill>
          <a:ln w="8255">
            <a:solidFill>
              <a:srgbClr val="3A393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70832" y="46817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不要用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5138928" y="4608576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C5BE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 carousel　／　無限 feed　／　「為你推薦」取代完整目錄　／　文章只有封面卡沒有編輯順序</a:t>
            </a:r>
            <a:endParaRPr lang="en-US" sz="1040" dirty="0"/>
          </a:p>
        </p:txBody>
      </p:sp>
      <p:sp>
        <p:nvSpPr>
          <p:cNvPr id="45" name="Text 43"/>
          <p:cNvSpPr txBox="1"/>
          <p:nvPr/>
        </p:nvSpPr>
        <p:spPr>
          <a:xfrm>
            <a:off x="4187952" y="5751576"/>
            <a:ext cx="6784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一旦首頁與期刊頁都變成卡片牆，雜誌定義會在操作層崩掉。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DESIGN.md §4–5 · core flow is Home → Issue/TOC → Article; no slide carousel.</a:t>
            </a:r>
            <a:endParaRPr lang="en-US" sz="630" dirty="0"/>
          </a:p>
        </p:txBody>
      </p:sp>
      <p:sp>
        <p:nvSpPr>
          <p:cNvPr id="48" name="Text 46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03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文章：沉浸來自閱讀節奏，不是每段都動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正文維持 Editorial Paper；資料、引言、球場圖只在需要時打斷節奏。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74980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8255">
            <a:solidFill>
              <a:srgbClr val="D7D0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12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FILM ROOM / HOME COURT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當主場聲浪變成</a:t>
            </a:r>
            <a:endParaRPr lang="en-US" sz="2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第四節的戰術資源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27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文／編輯部　資料／Courtside Data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690372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91440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4A484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主場優勢不是一句情緒口號。當球迷聲浪、球員熟悉度與輪替節奏同時作用，第四節會出現可觀察的決策差異。</a:t>
            </a:r>
            <a:endParaRPr lang="en-US" sz="122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365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4A484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本篇把三場主場比賽切成 24 個 possession，標記暫停後第一個戰術、關鍵換防與球迷聲量峰值。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251960" y="379476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8848" y="393192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「節奏不是特效；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它要說明因果。」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51960" y="489204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4956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53949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主場淨勝分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70448" y="4892040"/>
            <a:ext cx="1673352" cy="960120"/>
          </a:xfrm>
          <a:prstGeom prst="roundRect">
            <a:avLst>
              <a:gd name="adj" fmla="val 4762"/>
            </a:avLst>
          </a:prstGeom>
          <a:solidFill>
            <a:srgbClr val="E9E3D8"/>
          </a:solidFill>
          <a:ln w="7620">
            <a:solidFill>
              <a:srgbClr val="C8C1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4892040"/>
            <a:ext cx="0" cy="960120"/>
          </a:xfrm>
          <a:prstGeom prst="line">
            <a:avLst/>
          </a:prstGeom>
          <a:noFill/>
          <a:ln w="8890">
            <a:solidFill>
              <a:srgbClr val="4A4844">
                <a:alpha val="7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345936" y="5193792"/>
            <a:ext cx="384048" cy="384048"/>
          </a:xfrm>
          <a:prstGeom prst="ellipse">
            <a:avLst/>
          </a:prstGeom>
          <a:solidFill>
            <a:srgbClr val="E9E3D8"/>
          </a:solidFill>
          <a:ln w="8890">
            <a:solidFill>
              <a:srgbClr val="4A48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5266944"/>
            <a:ext cx="402336" cy="-182880"/>
          </a:xfrm>
          <a:prstGeom prst="line">
            <a:avLst/>
          </a:prstGeom>
          <a:noFill/>
          <a:ln w="16510">
            <a:solidFill>
              <a:srgbClr val="D9483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11696" y="5266944"/>
            <a:ext cx="329184" cy="182880"/>
          </a:xfrm>
          <a:prstGeom prst="line">
            <a:avLst/>
          </a:prstGeom>
          <a:noFill/>
          <a:ln w="16510">
            <a:solidFill>
              <a:srgbClr val="D94832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8613648" y="1901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使用習慣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613648" y="2432304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13648" y="24185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24048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垂直閱讀，保留段落位置與 stable anchor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13648" y="2907792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13648" y="28940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2880360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中途離開後顯示非阻塞式續讀提示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3383280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33695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35584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文章結尾完成來源、上一篇、下一篇、目錄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13648" y="3858768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13648" y="38450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383133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reduced-motion／no-JS 時仍是完整產品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13648" y="4462272"/>
            <a:ext cx="2944368" cy="1188720"/>
          </a:xfrm>
          <a:prstGeom prst="roundRect">
            <a:avLst>
              <a:gd name="adj" fmla="val 6154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14816" y="4617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READER DOCK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805672" y="4956048"/>
            <a:ext cx="713232" cy="438912"/>
          </a:xfrm>
          <a:prstGeom prst="roundRect">
            <a:avLst>
              <a:gd name="adj" fmla="val 12500"/>
            </a:avLst>
          </a:prstGeom>
          <a:solidFill>
            <a:srgbClr val="31302E"/>
          </a:solidFill>
          <a:ln w="12700">
            <a:solidFill>
              <a:srgbClr val="31302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05672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目錄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9628632" y="4956048"/>
            <a:ext cx="713232" cy="438912"/>
          </a:xfrm>
          <a:prstGeom prst="roundRect">
            <a:avLst>
              <a:gd name="adj" fmla="val 12500"/>
            </a:avLst>
          </a:prstGeom>
          <a:solidFill>
            <a:srgbClr val="31302E"/>
          </a:solidFill>
          <a:ln w="12700">
            <a:solidFill>
              <a:srgbClr val="31302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28632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上一篇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10451592" y="4956048"/>
            <a:ext cx="713232" cy="438912"/>
          </a:xfrm>
          <a:prstGeom prst="roundRect">
            <a:avLst>
              <a:gd name="adj" fmla="val 12500"/>
            </a:avLst>
          </a:prstGeom>
          <a:solidFill>
            <a:srgbClr val="31302E"/>
          </a:solidFill>
          <a:ln w="12700">
            <a:solidFill>
              <a:srgbClr val="31302E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451592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下一篇</a:t>
            </a:r>
            <a:endParaRPr lang="en-US" sz="830" dirty="0"/>
          </a:p>
        </p:txBody>
      </p:sp>
      <p:sp>
        <p:nvSpPr>
          <p:cNvPr id="43" name="Text 41"/>
          <p:cNvSpPr txBox="1"/>
          <p:nvPr/>
        </p:nvSpPr>
        <p:spPr>
          <a:xfrm>
            <a:off x="8622792" y="58064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不是左右翻頁式 slide，也不是每段都插互動。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DESIGN.md §2.2 principles, §4 core experience, §5 article shell; article copy and data are illustrative.</a:t>
            </a:r>
            <a:endParaRPr lang="en-US" sz="630" dirty="0"/>
          </a:p>
        </p:txBody>
      </p:sp>
      <p:sp>
        <p:nvSpPr>
          <p:cNvPr id="46" name="Text 44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04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版本與來源：Web3 的正確出場時機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讀完之後，使用者才需要知道「這一版是什麼、何時發布、可否驗證」。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892040" cy="4297680"/>
          </a:xfrm>
          <a:prstGeom prst="roundRect">
            <a:avLst>
              <a:gd name="adj" fmla="val 1702"/>
            </a:avLst>
          </a:prstGeom>
          <a:solidFill>
            <a:srgbClr val="F4F0E8"/>
          </a:solidFill>
          <a:ln w="12700">
            <a:solidFill>
              <a:srgbClr val="F4F0E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48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文章結束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閱讀到這裡，</a:t>
            </a:r>
            <a:endParaRPr lang="en-US" sz="2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你已完成本篇。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015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581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 12 筆　·　修訂 3 次　·　最後更新 2026-08-07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005840" y="3749040"/>
            <a:ext cx="4041648" cy="0"/>
          </a:xfrm>
          <a:prstGeom prst="line">
            <a:avLst/>
          </a:prstGeom>
          <a:noFill/>
          <a:ln w="7620">
            <a:solidFill>
              <a:srgbClr val="C9C3B9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05840" y="4041648"/>
            <a:ext cx="4041648" cy="530352"/>
          </a:xfrm>
          <a:prstGeom prst="roundRect">
            <a:avLst>
              <a:gd name="adj" fmla="val 13793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069080"/>
            <a:ext cx="4041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查看版本與來源</a:t>
            </a:r>
            <a:endParaRPr lang="en-US" sz="112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956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上一篇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495604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回到本期目錄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4956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下一篇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20201F"/>
          </a:solidFill>
          <a:ln w="8255">
            <a:solidFill>
              <a:srgbClr val="3B39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01168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4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PROVENANCE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875520" y="19568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195681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963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478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2026-08-07 21:00 +08:00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309360" y="2816352"/>
            <a:ext cx="4718304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6309360" y="29718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Revision</a:t>
            </a:r>
            <a:endParaRPr lang="en-US" sz="76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953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· supersedes revision 02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4718304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6309360" y="344728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</a:t>
            </a:r>
            <a:endParaRPr lang="en-US" sz="76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429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v1 · canonical JSON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6309360" y="3767328"/>
            <a:ext cx="4718304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6309360" y="39227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Digest</a:t>
            </a:r>
            <a:endParaRPr lang="en-US" sz="76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3904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4F0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SHA-256 · 7A3F…9D21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309360" y="4242816"/>
            <a:ext cx="4718304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6309360" y="4398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</a:t>
            </a:r>
            <a:endParaRPr lang="en-US" sz="76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4379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Public web · attribution required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309360" y="4718304"/>
            <a:ext cx="4718304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6309360" y="4873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908B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proof</a:t>
            </a:r>
            <a:endParaRPr lang="en-US" sz="76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855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Off by default · manifest-only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309360" y="5449824"/>
            <a:ext cx="4718304" cy="384048"/>
          </a:xfrm>
          <a:prstGeom prst="roundRect">
            <a:avLst>
              <a:gd name="adj" fmla="val 14286"/>
            </a:avLst>
          </a:prstGeom>
          <a:solidFill>
            <a:srgbClr val="2B2A28"/>
          </a:solidFill>
          <a:ln w="12700">
            <a:solidFill>
              <a:srgbClr val="2B2A2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5495544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C6BFB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它能證明版本一致，不代表內容必然真實、權利永遠有效或永久可用。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896112" y="620877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信任層，不是科技表演。</a:t>
            </a:r>
            <a:endParaRPr lang="en-US" sz="1380" dirty="0"/>
          </a:p>
        </p:txBody>
      </p:sp>
      <p:sp>
        <p:nvSpPr>
          <p:cNvPr id="39" name="Shape 37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ADR-0006 · docs/product/fan-season-passport.md “Separate semantics” · verification UI is a proposed human-readable presentation.</a:t>
            </a:r>
            <a:endParaRPr lang="en-US" sz="630" dirty="0"/>
          </a:p>
        </p:txBody>
      </p:sp>
      <p:sp>
        <p:nvSpPr>
          <p:cNvPr id="41" name="Text 39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05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Reader Stamp：先完成閱讀，再收藏記憶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真正的門檻是有效完成條件與身份驗證，不是持幣、gas 或錢包熟練度。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246888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21408"/>
            <a:ext cx="457200" cy="457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4320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4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完成本期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1546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伺服器驗證條件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182112" y="2834640"/>
            <a:ext cx="347472" cy="0"/>
          </a:xfrm>
          <a:prstGeom prst="line">
            <a:avLst/>
          </a:prstGeom>
          <a:noFill/>
          <a:ln w="1270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10712" y="2715768"/>
            <a:ext cx="219456" cy="237744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1920240"/>
            <a:ext cx="246888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4176" y="2121408"/>
            <a:ext cx="457200" cy="457200"/>
          </a:xfrm>
          <a:prstGeom prst="ellipse">
            <a:avLst/>
          </a:prstGeom>
          <a:solidFill>
            <a:srgbClr val="4A4844"/>
          </a:solidFill>
          <a:ln w="12700">
            <a:solidFill>
              <a:srgbClr val="4A484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4176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94176" y="274320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4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登入 Email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3694176" y="31546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OIDC／email identity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98464" y="2834640"/>
            <a:ext cx="347472" cy="0"/>
          </a:xfrm>
          <a:prstGeom prst="line">
            <a:avLst/>
          </a:prstGeom>
          <a:noFill/>
          <a:ln w="1270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227064" y="2715768"/>
            <a:ext cx="219456" cy="237744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920240"/>
            <a:ext cx="246888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2121408"/>
            <a:ext cx="457200" cy="457200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74320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4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收藏閱讀紀錄</a:t>
            </a:r>
            <a:endParaRPr lang="en-US" sz="154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31546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off-chain entitlement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814816" y="2834640"/>
            <a:ext cx="347472" cy="0"/>
          </a:xfrm>
          <a:prstGeom prst="line">
            <a:avLst/>
          </a:prstGeom>
          <a:noFill/>
          <a:ln w="12700">
            <a:solidFill>
              <a:srgbClr val="B9B2A7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043416" y="2715768"/>
            <a:ext cx="219456" cy="237744"/>
          </a:xfrm>
          <a:prstGeom prst="chevron">
            <a:avLst/>
          </a:prstGeom>
          <a:solidFill>
            <a:srgbClr val="B9B2A7"/>
          </a:solidFill>
          <a:ln w="12700">
            <a:solidFill>
              <a:srgbClr val="B9B2A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62288" y="1920240"/>
            <a:ext cx="2468880" cy="186537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121408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743200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4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可選擇送至 Wallet</a:t>
            </a:r>
            <a:endParaRPr lang="en-US" sz="154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3154680"/>
            <a:ext cx="2121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581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user-initiated delivery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13232" y="4187952"/>
            <a:ext cx="5349240" cy="1316736"/>
          </a:xfrm>
          <a:prstGeom prst="roundRect">
            <a:avLst>
              <a:gd name="adj" fmla="val 6944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1832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推薦文案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472744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收藏本期記憶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3182112" y="46634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C6BFB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 2026 Season Passport；你的精確閱讀歷史不會公開上鏈。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236208" y="4187952"/>
            <a:ext cx="5239512" cy="1316736"/>
          </a:xfrm>
          <a:prstGeom prst="roundRect">
            <a:avLst>
              <a:gd name="adj" fmla="val 6944"/>
            </a:avLst>
          </a:prstGeom>
          <a:solidFill>
            <a:srgbClr val="F2D7D1"/>
          </a:solidFill>
          <a:ln w="8255">
            <a:solidFill>
              <a:srgbClr val="E8B9B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4389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100" kern="0" dirty="0">
                <a:solidFill>
                  <a:srgbClr val="B936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避免文案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473952" y="4727448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B93625"/>
          </a:solidFill>
          <a:ln w="12700">
            <a:solidFill>
              <a:srgbClr val="B9362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47274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MINT NFT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7754112" y="472744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B93625"/>
          </a:solidFill>
          <a:ln w="12700">
            <a:solidFill>
              <a:srgbClr val="B9362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45552" y="472744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GAS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8979408" y="4727448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B93625"/>
          </a:solidFill>
          <a:ln w="12700">
            <a:solidFill>
              <a:srgbClr val="B9362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70848" y="4727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FIRST</a:t>
            </a:r>
            <a:endParaRPr lang="en-US" sz="83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513892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這些詞會把文化記憶改寫成交易任務。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777240" y="5751576"/>
            <a:ext cx="64008" cy="411480"/>
          </a:xfrm>
          <a:prstGeom prst="roundRect">
            <a:avLst>
              <a:gd name="adj" fmla="val 2857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5840" y="5751576"/>
            <a:ext cx="1039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The reward is continuity, not price.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docs/product/fan-season-passport.md · ADR-0008 proposed boundary · P2D off-chain first, P2E optional user-initiated delivery.</a:t>
            </a:r>
            <a:endParaRPr lang="en-US" sz="630" dirty="0"/>
          </a:p>
        </p:txBody>
      </p:sp>
      <p:sp>
        <p:nvSpPr>
          <p:cNvPr id="48" name="Text 46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06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Season Passport：回訪看的是「我和台籃走過什麼」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Passport 應該像球迷年鑑，不像資產錢包或排行榜。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68096" y="1792224"/>
            <a:ext cx="5577840" cy="4343400"/>
          </a:xfrm>
          <a:prstGeom prst="roundRect">
            <a:avLst>
              <a:gd name="adj" fmla="val 2947"/>
            </a:avLst>
          </a:prstGeom>
          <a:solidFill>
            <a:srgbClr val="20201F"/>
          </a:solidFill>
          <a:ln w="8890">
            <a:solidFill>
              <a:srgbClr val="3A39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4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SEASON PASSPORT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MARK / TAIPEI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8712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DB6A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閱讀 7 期 · 14 篇長文 · 2 場活動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078992" y="3429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0432" y="3575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01</a:t>
            </a:r>
            <a:endParaRPr lang="en-US" sz="69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429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3575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02</a:t>
            </a:r>
            <a:endParaRPr lang="en-US" sz="69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3429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84448" y="3575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03</a:t>
            </a:r>
            <a:endParaRPr lang="en-US" sz="69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0016" y="3429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3575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04</a:t>
            </a:r>
            <a:endParaRPr lang="en-US" sz="69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78992" y="4572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70432" y="4718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05</a:t>
            </a:r>
            <a:endParaRPr lang="en-US" sz="69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983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4572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302F2D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4718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06</a:t>
            </a:r>
            <a:endParaRPr lang="en-US" sz="69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983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93008" y="4572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D94832"/>
          </a:solidFill>
          <a:ln w="6985">
            <a:solidFill>
              <a:srgbClr val="4A48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84448" y="4718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F4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07</a:t>
            </a:r>
            <a:endParaRPr lang="en-US" sz="690" dirty="0"/>
          </a:p>
        </p:txBody>
      </p:sp>
      <p:sp>
        <p:nvSpPr>
          <p:cNvPr id="29" name="Text 27"/>
          <p:cNvSpPr txBox="1"/>
          <p:nvPr/>
        </p:nvSpPr>
        <p:spPr>
          <a:xfrm>
            <a:off x="3584448" y="4983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4572000"/>
            <a:ext cx="960120" cy="841248"/>
          </a:xfrm>
          <a:prstGeom prst="roundRect">
            <a:avLst>
              <a:gd name="adj" fmla="val 8696"/>
            </a:avLst>
          </a:prstGeom>
          <a:solidFill>
            <a:srgbClr val="262523"/>
          </a:solidFill>
          <a:ln w="6985">
            <a:solidFill>
              <a:srgbClr val="3331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47183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6D6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08</a:t>
            </a:r>
            <a:endParaRPr lang="en-US" sz="69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4983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D595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○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19385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回訪首頁不只顯示「新文章」</a:t>
            </a:r>
            <a:endParaRPr lang="en-US" sz="2050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2587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你最常閱讀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25603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中華隊 Film Room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39712" y="2971800"/>
            <a:ext cx="4407408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6839712" y="32826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你跟上的故事線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3255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旅外球員角色演化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39712" y="3666744"/>
            <a:ext cx="4407408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6839712" y="39776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你錯過的本期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39502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ISSUE 08 · 城市德比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39712" y="4361688"/>
            <a:ext cx="4407408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6839712" y="467258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你的年度回顧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46451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7 期內容生成球迷年鑑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39712" y="5056632"/>
            <a:ext cx="4407408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812280" y="5513832"/>
            <a:ext cx="4443984" cy="475488"/>
          </a:xfrm>
          <a:prstGeom prst="roundRect">
            <a:avLst>
              <a:gd name="adj" fmla="val 15385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12280" y="5532120"/>
            <a:ext cx="4443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查看我的 2026 台籃年鑑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docs/product/fan-season-passport.md Passport model / P3 Season Recap · mock data is illustrative.</a:t>
            </a:r>
            <a:endParaRPr lang="en-US" sz="630" dirty="0"/>
          </a:p>
        </p:txBody>
      </p:sp>
      <p:sp>
        <p:nvSpPr>
          <p:cNvPr id="50" name="Text 48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COMPARISON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傳統雜誌、新聞 Feed 與 Courtside TW 的操作差異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Courtside TW 的優勢不是「更互動」，而是保留期刊儀式，同時讓內容可續讀、可驗證、可累積。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578608" cy="50292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56232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比較面向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3236976" y="1828800"/>
            <a:ext cx="2743200" cy="50292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0128" y="1856232"/>
            <a:ext cx="2596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傳統紙本雜誌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5980176" y="1828800"/>
            <a:ext cx="2743200" cy="50292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3328" y="1856232"/>
            <a:ext cx="2596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新聞／社群 Feed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8723376" y="1828800"/>
            <a:ext cx="2788920" cy="502920"/>
          </a:xfrm>
          <a:prstGeom prst="roundRect">
            <a:avLst>
              <a:gd name="adj" fmla="val 3636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96528" y="1856232"/>
            <a:ext cx="2642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Courtside TW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58368" y="2331720"/>
            <a:ext cx="2578608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368296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入口儀式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236976" y="2331720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28416" y="236829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封面／期號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980176" y="2331720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71616" y="236829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演算法推薦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723376" y="2331720"/>
            <a:ext cx="2788920" cy="521208"/>
          </a:xfrm>
          <a:prstGeom prst="rect">
            <a:avLst/>
          </a:prstGeom>
          <a:solidFill>
            <a:srgbClr val="F8E7E3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14816" y="236829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最新一期／主題封面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58368" y="2852928"/>
            <a:ext cx="2578608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2889504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閱讀單位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236976" y="2852928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28416" y="288950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整期與文章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980176" y="2852928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71616" y="288950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單則貼文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723376" y="2852928"/>
            <a:ext cx="2788920" cy="521208"/>
          </a:xfrm>
          <a:prstGeom prst="rect">
            <a:avLst/>
          </a:prstGeom>
          <a:solidFill>
            <a:srgbClr val="F3DCD6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14816" y="288950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Issue → TOC → Article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3374136"/>
            <a:ext cx="2578608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3410712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順序感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3236976" y="3374136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28416" y="341071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編輯排序強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980176" y="3374136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71616" y="341071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時間流、快速消失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23376" y="3374136"/>
            <a:ext cx="2788920" cy="521208"/>
          </a:xfrm>
          <a:prstGeom prst="rect">
            <a:avLst/>
          </a:prstGeom>
          <a:solidFill>
            <a:srgbClr val="F8E7E3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14816" y="3410712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可跳讀，但保留編輯弧線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58368" y="3895344"/>
            <a:ext cx="2578608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3931920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中斷與續讀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3236976" y="3895344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28416" y="3931920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靠書籤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980176" y="3895344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71616" y="3931920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通常回不到原脈絡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723376" y="3895344"/>
            <a:ext cx="2788920" cy="521208"/>
          </a:xfrm>
          <a:prstGeom prst="rect">
            <a:avLst/>
          </a:prstGeom>
          <a:solidFill>
            <a:srgbClr val="F3DCD6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814816" y="393192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stable anchor＋revision-aware resume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58368" y="4416552"/>
            <a:ext cx="2578608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9808" y="4453128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版本與來源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3236976" y="4416552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28416" y="445312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印刷版固定、較少更新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980176" y="4416552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71616" y="445312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修訂常不透明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723376" y="4416552"/>
            <a:ext cx="2788920" cy="521208"/>
          </a:xfrm>
          <a:prstGeom prst="rect">
            <a:avLst/>
          </a:prstGeom>
          <a:solidFill>
            <a:srgbClr val="F8E7E3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814816" y="4453128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revision／digest／rights 可查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658368" y="4937760"/>
            <a:ext cx="2578608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" y="4974336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收藏方式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236976" y="4937760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28416" y="497433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實體保存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980176" y="4937760"/>
            <a:ext cx="2743200" cy="521208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71616" y="497433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按讚／書籤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8723376" y="4937760"/>
            <a:ext cx="2788920" cy="521208"/>
          </a:xfrm>
          <a:prstGeom prst="rect">
            <a:avLst/>
          </a:prstGeom>
          <a:solidFill>
            <a:srgbClr val="F3DCD6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814816" y="497433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Off-chain Stamp＋可選 credential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658368" y="5458968"/>
            <a:ext cx="2578608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9808" y="5495544"/>
            <a:ext cx="23957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長期身份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3236976" y="5458968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328416" y="549554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書架與收藏習慣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5980176" y="5458968"/>
            <a:ext cx="27432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71616" y="549554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追蹤者／互動數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8723376" y="5458968"/>
            <a:ext cx="2788920" cy="521208"/>
          </a:xfrm>
          <a:prstGeom prst="rect">
            <a:avLst/>
          </a:prstGeom>
          <a:solidFill>
            <a:srgbClr val="F8E7E3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814816" y="549554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Season Passport／球迷年鑑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58368" y="6144768"/>
            <a:ext cx="10853928" cy="283464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1248" y="6144768"/>
            <a:ext cx="10488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關鍵差異：它不是把紙本變成網頁；它把「期刊儀式」變成一個可延續的數位文化檔案。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synthesizes source-defined interaction contracts with evaluative product analysis.</a:t>
            </a:r>
            <a:endParaRPr lang="en-US" sz="630" dirty="0"/>
          </a:p>
        </p:txBody>
      </p:sp>
      <p:sp>
        <p:nvSpPr>
          <p:cNvPr id="73" name="Text 71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 TEST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雜誌定義鮮明，但必須用產品行為守住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文件裡已經很像雜誌；真正的風險是 implementation 把它做回一般內容平台。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920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期號與主題儀式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218688" y="1965960"/>
            <a:ext cx="4901184" cy="109728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1965960"/>
            <a:ext cx="4509089" cy="109728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39328" y="188366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25712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AA4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最新一期與封面是入口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642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編輯順序與目錄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18688" y="2688336"/>
            <a:ext cx="4901184" cy="109728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2688336"/>
            <a:ext cx="4411066" cy="109728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26060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25712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AA4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TOC 是完整 SSR 垂直清單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364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長篇閱讀安定性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218688" y="3410712"/>
            <a:ext cx="4901184" cy="109728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3410712"/>
            <a:ext cx="4313042" cy="109728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9328" y="332841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3346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AA4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Editorial Paper、Reader Dock、resume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087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文章 closure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218688" y="4133088"/>
            <a:ext cx="4901184" cy="109728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4133088"/>
            <a:ext cx="4215018" cy="109728"/>
          </a:xfrm>
          <a:prstGeom prst="roundRect">
            <a:avLst>
              <a:gd name="adj" fmla="val 50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39328" y="405079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25712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AA4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來源、上一篇、下一篇、目錄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4809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品牌命名清晰度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218688" y="4855464"/>
            <a:ext cx="4901184" cy="109728"/>
          </a:xfrm>
          <a:prstGeom prst="roundRect">
            <a:avLst>
              <a:gd name="adj" fmla="val 50000"/>
            </a:avLst>
          </a:prstGeom>
          <a:solidFill>
            <a:srgbClr val="353432"/>
          </a:solidFill>
          <a:ln w="12700">
            <a:solidFill>
              <a:srgbClr val="3534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18688" y="4855464"/>
            <a:ext cx="2940710" cy="109728"/>
          </a:xfrm>
          <a:prstGeom prst="roundRect">
            <a:avLst>
              <a:gd name="adj" fmla="val 50000"/>
            </a:avLst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47731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483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25712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AA4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Courtside TW 仍是 working title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04672" y="559612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22220"/>
          </a:solidFill>
          <a:ln w="7620">
            <a:solidFill>
              <a:srgbClr val="3A39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5769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定義成立的判準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450592" y="56784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使用者先說「這是台籃數位雜誌／檔案」，而不是「這是 NFT 或會員積分 App」。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236208" y="5596128"/>
            <a:ext cx="4983480" cy="566928"/>
          </a:xfrm>
          <a:prstGeom prst="roundRect">
            <a:avLst>
              <a:gd name="adj" fmla="val 12903"/>
            </a:avLst>
          </a:prstGeom>
          <a:solidFill>
            <a:srgbClr val="222220"/>
          </a:solidFill>
          <a:ln w="7620">
            <a:solidFill>
              <a:srgbClr val="3A393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37376" y="5769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會模糊的情況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5678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首頁卡片牆、wallet-first、排行榜、徽章密度高於標題與正文。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basis: DESIGN.md “Product promise”, “Core experience map”, “Public shell”; brand-name status is explicitly not final.</a:t>
            </a:r>
            <a:endParaRPr lang="en-US" sz="630" dirty="0"/>
          </a:p>
        </p:txBody>
      </p:sp>
      <p:sp>
        <p:nvSpPr>
          <p:cNvPr id="38" name="Text 36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AUDIT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六個最可能把產品做歪的 UX 風險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每一項都附一個可驗證 guardrail；不是靠「品味」臨場判斷。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94944" y="1856232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02536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002536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472184" y="1984248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Passport 過早出場</a:t>
            </a:r>
            <a:endParaRPr lang="en-US" sz="142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4323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使用者還沒感受到內容價值，就先被要求登入或收藏。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859536" y="3044952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2D7D1"/>
          </a:solidFill>
          <a:ln w="12700">
            <a:solidFill>
              <a:srgbClr val="F2D7D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081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Guardrail：Stamp 只在 closure 後出現。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4078224" y="1856232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2816" y="2002536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34256" y="2002536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855464" y="1984248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Provenance 技術化</a:t>
            </a:r>
            <a:endParaRPr lang="en-US" sz="1420" dirty="0"/>
          </a:p>
        </p:txBody>
      </p:sp>
      <p:sp>
        <p:nvSpPr>
          <p:cNvPr id="16" name="Text 14"/>
          <p:cNvSpPr txBox="1"/>
          <p:nvPr/>
        </p:nvSpPr>
        <p:spPr>
          <a:xfrm>
            <a:off x="4242816" y="24323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直接顯示 CID、chain、RPC，把信任層做成 crypto theater。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4242816" y="3044952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DCE9E2"/>
          </a:solidFill>
          <a:ln w="12700">
            <a:solidFill>
              <a:srgbClr val="DCE9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34256" y="3081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Guardrail：先翻譯成人話，再提供技術詳情。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461504" y="1856232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6096" y="2002536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17536" y="2002536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238744" y="1984248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無限 Feed 侵蝕期刊</a:t>
            </a:r>
            <a:endParaRPr lang="en-US" sz="142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243230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卡片演算法取代期號、章節與完整 TOC。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7626096" y="3044952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2D7D1"/>
          </a:solidFill>
          <a:ln w="12700">
            <a:solidFill>
              <a:srgbClr val="F2D7D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17536" y="3081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Guardrail：首頁只有一個主命題與一本最新期刊。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694944" y="3877056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023360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" y="402336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472184" y="4005072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Wallet 成為身份中心</a:t>
            </a:r>
            <a:endParaRPr lang="en-US" sz="1420" dirty="0"/>
          </a:p>
        </p:txBody>
      </p:sp>
      <p:sp>
        <p:nvSpPr>
          <p:cNvPr id="30" name="Text 28"/>
          <p:cNvSpPr txBox="1"/>
          <p:nvPr/>
        </p:nvSpPr>
        <p:spPr>
          <a:xfrm>
            <a:off x="859536" y="445312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沒有錢包的讀者被排除，address 取代 account lifecycle。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59536" y="5065776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DCE9E2"/>
          </a:solidFill>
          <a:ln w="12700">
            <a:solidFill>
              <a:srgbClr val="DCE9E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0976" y="5102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Guardrail：Email／OIDC first，wallet 可解除綁定。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4078224" y="3877056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4023360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34256" y="402336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R5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4855464" y="4005072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動態效果過量</a:t>
            </a:r>
            <a:endParaRPr lang="en-US" sz="1420" dirty="0"/>
          </a:p>
        </p:txBody>
      </p:sp>
      <p:sp>
        <p:nvSpPr>
          <p:cNvPr id="37" name="Text 35"/>
          <p:cNvSpPr txBox="1"/>
          <p:nvPr/>
        </p:nvSpPr>
        <p:spPr>
          <a:xfrm>
            <a:off x="4242816" y="445312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p5／Motion 連續搶注意力，長文成為背景。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4242816" y="5065776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2D7D1"/>
          </a:solidFill>
          <a:ln w="12700">
            <a:solidFill>
              <a:srgbClr val="F2D7D1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34256" y="5102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Guardrail：3–5 段最多一次 pattern break。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7461504" y="3877056"/>
            <a:ext cx="313639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8255">
            <a:solidFill>
              <a:srgbClr val="D6CFC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6096" y="4023360"/>
            <a:ext cx="475488" cy="265176"/>
          </a:xfrm>
          <a:prstGeom prst="roundRect">
            <a:avLst>
              <a:gd name="adj" fmla="val 58621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17536" y="402336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R6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8238744" y="4005072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無意義的完成條件</a:t>
            </a:r>
            <a:endParaRPr lang="en-US" sz="1420" dirty="0"/>
          </a:p>
        </p:txBody>
      </p:sp>
      <p:sp>
        <p:nvSpPr>
          <p:cNvPr id="44" name="Text 42"/>
          <p:cNvSpPr txBox="1"/>
          <p:nvPr/>
        </p:nvSpPr>
        <p:spPr>
          <a:xfrm>
            <a:off x="7626096" y="445312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滑到底就發 Stamp，credential 不代表任何閱讀承諾。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7626096" y="5065776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DCE9E2"/>
          </a:solidFill>
          <a:ln w="12700">
            <a:solidFill>
              <a:srgbClr val="DCE9E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17536" y="5102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2D6A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Guardrail：server-side claim condition＋冪等。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DESIGN.md motion/reading rules · ADR-0006/0008 failure boundaries · risk severity and wording are evaluative.</a:t>
            </a:r>
            <a:endParaRPr lang="en-US" sz="630" dirty="0"/>
          </a:p>
        </p:txBody>
      </p:sp>
      <p:sp>
        <p:nvSpPr>
          <p:cNvPr id="49" name="Text 47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CONTRACT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先做完一本雜誌，再做一個 Passport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C9B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把每一階段的使用者價值與禁區寫死，避免 Web3 提前吞掉產品主線。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901952"/>
            <a:ext cx="2029968" cy="3529584"/>
          </a:xfrm>
          <a:prstGeom prst="roundRect">
            <a:avLst>
              <a:gd name="adj" fmla="val 4955"/>
            </a:avLst>
          </a:prstGeom>
          <a:solidFill>
            <a:srgbClr val="2B2A28"/>
          </a:solidFill>
          <a:ln w="15240">
            <a:solidFill>
              <a:srgbClr val="4E4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066544"/>
            <a:ext cx="512064" cy="265176"/>
          </a:xfrm>
          <a:prstGeom prst="roundRect">
            <a:avLst>
              <a:gd name="adj" fmla="val 58621"/>
            </a:avLst>
          </a:prstGeom>
          <a:solidFill>
            <a:srgbClr val="4E4B47"/>
          </a:solidFill>
          <a:ln w="12700">
            <a:solidFill>
              <a:srgbClr val="4E4B4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237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4672" y="2990088"/>
            <a:ext cx="1664208" cy="0"/>
          </a:xfrm>
          <a:prstGeom prst="line">
            <a:avLst/>
          </a:prstGeom>
          <a:noFill/>
          <a:ln w="6985">
            <a:solidFill>
              <a:srgbClr val="3B3936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04672" y="3310128"/>
            <a:ext cx="146304" cy="146304"/>
          </a:xfrm>
          <a:prstGeom prst="ellipse">
            <a:avLst/>
          </a:prstGeom>
          <a:solidFill>
            <a:srgbClr val="4E4B47"/>
          </a:solidFill>
          <a:ln w="12700">
            <a:solidFill>
              <a:srgbClr val="4E4B4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32278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SSR scaffold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04672" y="3877056"/>
            <a:ext cx="146304" cy="146304"/>
          </a:xfrm>
          <a:prstGeom prst="ellipse">
            <a:avLst/>
          </a:prstGeom>
          <a:solidFill>
            <a:srgbClr val="4E4B47"/>
          </a:solidFill>
          <a:ln w="12700">
            <a:solidFill>
              <a:srgbClr val="4E4B4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0704" y="379476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Contracts / DB foundation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651760" y="3675888"/>
            <a:ext cx="237744" cy="0"/>
          </a:xfrm>
          <a:prstGeom prst="line">
            <a:avLst/>
          </a:prstGeom>
          <a:noFill/>
          <a:ln w="12700">
            <a:solidFill>
              <a:srgbClr val="4A484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889504" y="1901952"/>
            <a:ext cx="2029968" cy="3529584"/>
          </a:xfrm>
          <a:prstGeom prst="roundRect">
            <a:avLst>
              <a:gd name="adj" fmla="val 4955"/>
            </a:avLst>
          </a:prstGeom>
          <a:solidFill>
            <a:srgbClr val="20201F"/>
          </a:solidFill>
          <a:ln w="8890">
            <a:solidFill>
              <a:srgbClr val="D948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4096" y="2066544"/>
            <a:ext cx="512064" cy="265176"/>
          </a:xfrm>
          <a:prstGeom prst="roundRect">
            <a:avLst>
              <a:gd name="adj" fmla="val 58621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5536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054096" y="25237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Magazine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072384" y="2990088"/>
            <a:ext cx="1664208" cy="0"/>
          </a:xfrm>
          <a:prstGeom prst="line">
            <a:avLst/>
          </a:prstGeom>
          <a:noFill/>
          <a:ln w="6985">
            <a:solidFill>
              <a:srgbClr val="3B393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072384" y="3310128"/>
            <a:ext cx="146304" cy="146304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28416" y="32278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Home → Issue → Article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072384" y="3877056"/>
            <a:ext cx="146304" cy="146304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28416" y="379476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TOC / Reader Dock / resume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072384" y="4443984"/>
            <a:ext cx="146304" cy="146304"/>
          </a:xfrm>
          <a:prstGeom prst="ellipse">
            <a:avLst/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28416" y="436168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匿名免費閱讀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919472" y="3675888"/>
            <a:ext cx="237744" cy="0"/>
          </a:xfrm>
          <a:prstGeom prst="line">
            <a:avLst/>
          </a:prstGeom>
          <a:noFill/>
          <a:ln w="12700">
            <a:solidFill>
              <a:srgbClr val="4A484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157216" y="1901952"/>
            <a:ext cx="2029968" cy="3529584"/>
          </a:xfrm>
          <a:prstGeom prst="roundRect">
            <a:avLst>
              <a:gd name="adj" fmla="val 4955"/>
            </a:avLst>
          </a:prstGeom>
          <a:solidFill>
            <a:srgbClr val="20201F"/>
          </a:solidFill>
          <a:ln w="8890">
            <a:solidFill>
              <a:srgbClr val="A48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21808" y="2066544"/>
            <a:ext cx="512064" cy="265176"/>
          </a:xfrm>
          <a:prstGeom prst="roundRect">
            <a:avLst>
              <a:gd name="adj" fmla="val 58621"/>
            </a:avLst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13248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P2A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25237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Provenance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5340096" y="2990088"/>
            <a:ext cx="1664208" cy="0"/>
          </a:xfrm>
          <a:prstGeom prst="line">
            <a:avLst/>
          </a:prstGeom>
          <a:noFill/>
          <a:ln w="6985">
            <a:solidFill>
              <a:srgbClr val="3B3936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340096" y="3310128"/>
            <a:ext cx="146304" cy="146304"/>
          </a:xfrm>
          <a:prstGeom prst="ellipse">
            <a:avLst/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96128" y="32278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Human-readable manifest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340096" y="3877056"/>
            <a:ext cx="146304" cy="146304"/>
          </a:xfrm>
          <a:prstGeom prst="ellipse">
            <a:avLst/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96128" y="379476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revision / digest / rights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340096" y="4443984"/>
            <a:ext cx="146304" cy="146304"/>
          </a:xfrm>
          <a:prstGeom prst="ellipse">
            <a:avLst/>
          </a:prstGeom>
          <a:solidFill>
            <a:srgbClr val="A48345"/>
          </a:solidFill>
          <a:ln w="12700">
            <a:solidFill>
              <a:srgbClr val="A4834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96128" y="436168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故障不阻塞文章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187184" y="3675888"/>
            <a:ext cx="237744" cy="0"/>
          </a:xfrm>
          <a:prstGeom prst="line">
            <a:avLst/>
          </a:prstGeom>
          <a:noFill/>
          <a:ln w="12700">
            <a:solidFill>
              <a:srgbClr val="4A4845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7424928" y="1901952"/>
            <a:ext cx="2029968" cy="3529584"/>
          </a:xfrm>
          <a:prstGeom prst="roundRect">
            <a:avLst>
              <a:gd name="adj" fmla="val 4955"/>
            </a:avLst>
          </a:prstGeom>
          <a:solidFill>
            <a:srgbClr val="20201F"/>
          </a:solidFill>
          <a:ln w="8890">
            <a:solidFill>
              <a:srgbClr val="2D6A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2066544"/>
            <a:ext cx="512064" cy="265176"/>
          </a:xfrm>
          <a:prstGeom prst="roundRect">
            <a:avLst>
              <a:gd name="adj" fmla="val 58621"/>
            </a:avLst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0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P2D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25237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Off-chain Passport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7607808" y="2990088"/>
            <a:ext cx="1664208" cy="0"/>
          </a:xfrm>
          <a:prstGeom prst="line">
            <a:avLst/>
          </a:prstGeom>
          <a:noFill/>
          <a:ln w="6985">
            <a:solidFill>
              <a:srgbClr val="3B3936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607808" y="331012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63840" y="32278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Email/OIDC identity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7607808" y="3877056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63840" y="379476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idempotent Reader Stamp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7607808" y="4443984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63840" y="436168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revoke / supersede / delete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9454896" y="3675888"/>
            <a:ext cx="237744" cy="0"/>
          </a:xfrm>
          <a:prstGeom prst="line">
            <a:avLst/>
          </a:prstGeom>
          <a:noFill/>
          <a:ln w="12700">
            <a:solidFill>
              <a:srgbClr val="4A4845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9692640" y="1901952"/>
            <a:ext cx="2029968" cy="3529584"/>
          </a:xfrm>
          <a:prstGeom prst="roundRect">
            <a:avLst>
              <a:gd name="adj" fmla="val 4955"/>
            </a:avLst>
          </a:prstGeom>
          <a:solidFill>
            <a:srgbClr val="20201F"/>
          </a:solidFill>
          <a:ln w="8890">
            <a:solidFill>
              <a:srgbClr val="5D687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57232" y="2066544"/>
            <a:ext cx="512064" cy="265176"/>
          </a:xfrm>
          <a:prstGeom prst="roundRect">
            <a:avLst>
              <a:gd name="adj" fmla="val 58621"/>
            </a:avLst>
          </a:prstGeom>
          <a:solidFill>
            <a:srgbClr val="5D6877"/>
          </a:solidFill>
          <a:ln w="12700">
            <a:solidFill>
              <a:srgbClr val="5D6877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48672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9857232" y="25237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Optional Web3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9875520" y="2990088"/>
            <a:ext cx="1664208" cy="0"/>
          </a:xfrm>
          <a:prstGeom prst="line">
            <a:avLst/>
          </a:prstGeom>
          <a:noFill/>
          <a:ln w="6985">
            <a:solidFill>
              <a:srgbClr val="3B3936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9875520" y="3310128"/>
            <a:ext cx="146304" cy="146304"/>
          </a:xfrm>
          <a:prstGeom prst="ellipse">
            <a:avLst/>
          </a:prstGeom>
          <a:solidFill>
            <a:srgbClr val="5D6877"/>
          </a:solidFill>
          <a:ln w="12700">
            <a:solidFill>
              <a:srgbClr val="5D687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31552" y="322783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wallet link opt-in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9875520" y="3877056"/>
            <a:ext cx="146304" cy="146304"/>
          </a:xfrm>
          <a:prstGeom prst="ellipse">
            <a:avLst/>
          </a:prstGeom>
          <a:solidFill>
            <a:srgbClr val="5D6877"/>
          </a:solidFill>
          <a:ln w="12700">
            <a:solidFill>
              <a:srgbClr val="5D6877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131552" y="379476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non-transferable credential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9875520" y="4443984"/>
            <a:ext cx="146304" cy="146304"/>
          </a:xfrm>
          <a:prstGeom prst="ellipse">
            <a:avLst/>
          </a:prstGeom>
          <a:solidFill>
            <a:srgbClr val="5D6877"/>
          </a:solidFill>
          <a:ln w="12700">
            <a:solidFill>
              <a:srgbClr val="5D6877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31552" y="436168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C0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sponsored tx / revocation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731520" y="5742432"/>
            <a:ext cx="10716768" cy="448056"/>
          </a:xfrm>
          <a:prstGeom prst="roundRect">
            <a:avLst>
              <a:gd name="adj" fmla="val 16327"/>
            </a:avLst>
          </a:prstGeom>
          <a:solidFill>
            <a:srgbClr val="222220"/>
          </a:solidFill>
          <a:ln w="7620">
            <a:solidFill>
              <a:srgbClr val="3A393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50976" y="5870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gate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847088" y="5797296"/>
            <a:ext cx="909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未通過「三次操作、安靜長文、rights gate、SSR fallback」之前，不啟用 P2D/P2E 的 public UI。</a:t>
            </a:r>
            <a:endParaRPr lang="en-US" sz="1010" dirty="0"/>
          </a:p>
        </p:txBody>
      </p:sp>
      <p:sp>
        <p:nvSpPr>
          <p:cNvPr id="65" name="Shape 63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3A3936"/>
            </a:solidFill>
            <a:prstDash val="solid"/>
            <a:headEnd type="none"/>
            <a:tailEnd type="none"/>
          </a:ln>
        </p:spPr>
      </p:sp>
      <p:sp>
        <p:nvSpPr>
          <p:cNvPr id="66" name="Text 64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A8A2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docs/product/fan-season-passport.md scope boundaries · ADR-0006/0008 · current P0 label reflects repository implementation evidence.</a:t>
            </a:r>
            <a:endParaRPr lang="en-US" sz="630" dirty="0"/>
          </a:p>
        </p:txBody>
      </p:sp>
      <p:sp>
        <p:nvSpPr>
          <p:cNvPr id="67" name="Text 65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7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PLAN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141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下一步不是再寫理念，而是讓使用者完成任務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以下是建議的可量測 usability gates；達不到就回到 IA、文案與出場時機重做。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ID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1207008" y="1810512"/>
            <a:ext cx="3410712" cy="4572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52728" y="1828800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617720" y="1810512"/>
            <a:ext cx="3246120" cy="4572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成功標準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863840" y="1810512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 w="12700">
            <a:solidFill>
              <a:srgbClr val="14141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18288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要驗證的假設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10332720" y="1810512"/>
            <a:ext cx="1207008" cy="457200"/>
          </a:xfrm>
          <a:prstGeom prst="roundRect">
            <a:avLst>
              <a:gd name="adj" fmla="val 4000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378440" y="182880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58368" y="2267712"/>
            <a:ext cx="54864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7008" y="2267712"/>
            <a:ext cx="341071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267712"/>
            <a:ext cx="32461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267712"/>
            <a:ext cx="24688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267712"/>
            <a:ext cx="120700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23134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231343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首次訪客找到指定文章</a:t>
            </a:r>
            <a:endParaRPr lang="en-US" sz="92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3134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≤ 3 次操作；成功率 ≥ 90%</a:t>
            </a:r>
            <a:endParaRPr lang="en-US" sz="86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313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證明 Magazine 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497312" y="2414016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88752" y="241401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58368" y="2825496"/>
            <a:ext cx="54864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2825496"/>
            <a:ext cx="3410712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825496"/>
            <a:ext cx="324612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2825496"/>
            <a:ext cx="246888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2825496"/>
            <a:ext cx="1207008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28712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298448" y="287121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分鐘後描述產品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287121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80% 說「台籃數位雜誌／檔案」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28712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防止被理解成 NFT App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497312" y="2971800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88752" y="297180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58368" y="3383280"/>
            <a:ext cx="54864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07008" y="3383280"/>
            <a:ext cx="341071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3383280"/>
            <a:ext cx="32461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3383280"/>
            <a:ext cx="24688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32720" y="3383280"/>
            <a:ext cx="120700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" y="34290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298448" y="3429000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解讀版本驗證</a:t>
            </a:r>
            <a:endParaRPr lang="en-US" sz="920" dirty="0"/>
          </a:p>
        </p:txBody>
      </p:sp>
      <p:sp>
        <p:nvSpPr>
          <p:cNvPr id="44" name="Text 42"/>
          <p:cNvSpPr txBox="1"/>
          <p:nvPr/>
        </p:nvSpPr>
        <p:spPr>
          <a:xfrm>
            <a:off x="4709160" y="342900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80% 知道是「版本一致」而非「內容必真」</a:t>
            </a:r>
            <a:endParaRPr lang="en-US" sz="86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34290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證明 Provenance 文案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497312" y="3529584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88752" y="352958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58368" y="3941064"/>
            <a:ext cx="54864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07008" y="3941064"/>
            <a:ext cx="3410712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3941064"/>
            <a:ext cx="324612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3941064"/>
            <a:ext cx="246888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0" y="3941064"/>
            <a:ext cx="1207008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8368" y="398678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T4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1298448" y="3986784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完成後收藏 Reader Stamp</a:t>
            </a:r>
            <a:endParaRPr lang="en-US" sz="920" dirty="0"/>
          </a:p>
        </p:txBody>
      </p:sp>
      <p:sp>
        <p:nvSpPr>
          <p:cNvPr id="55" name="Text 53"/>
          <p:cNvSpPr txBox="1"/>
          <p:nvPr/>
        </p:nvSpPr>
        <p:spPr>
          <a:xfrm>
            <a:off x="4709160" y="398678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Email-first；wallet-first abandon = 0</a:t>
            </a:r>
            <a:endParaRPr lang="en-US" sz="86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39867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證明 least-agency flow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497312" y="4087368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588752" y="408736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658368" y="4498848"/>
            <a:ext cx="54864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07008" y="4498848"/>
            <a:ext cx="3410712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4498848"/>
            <a:ext cx="324612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63840" y="4498848"/>
            <a:ext cx="24688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32720" y="4498848"/>
            <a:ext cx="1207008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8368" y="4544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T5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1298448" y="454456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一週後回訪</a:t>
            </a:r>
            <a:endParaRPr lang="en-US" sz="920" dirty="0"/>
          </a:p>
        </p:txBody>
      </p:sp>
      <p:sp>
        <p:nvSpPr>
          <p:cNvPr id="66" name="Text 64"/>
          <p:cNvSpPr txBox="1"/>
          <p:nvPr/>
        </p:nvSpPr>
        <p:spPr>
          <a:xfrm>
            <a:off x="4709160" y="454456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50% 能從 Passport 找回故事線</a:t>
            </a:r>
            <a:endParaRPr lang="en-US" sz="860" dirty="0"/>
          </a:p>
        </p:txBody>
      </p:sp>
      <p:sp>
        <p:nvSpPr>
          <p:cNvPr id="67" name="Text 65"/>
          <p:cNvSpPr txBox="1"/>
          <p:nvPr/>
        </p:nvSpPr>
        <p:spPr>
          <a:xfrm>
            <a:off x="7955280" y="4544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證明累積價值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0497312" y="4645152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588752" y="46451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658368" y="5056632"/>
            <a:ext cx="54864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07008" y="5056632"/>
            <a:ext cx="3410712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5056632"/>
            <a:ext cx="324612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63840" y="5056632"/>
            <a:ext cx="2468880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32720" y="5056632"/>
            <a:ext cx="1207008" cy="557784"/>
          </a:xfrm>
          <a:prstGeom prst="rect">
            <a:avLst/>
          </a:prstGeom>
          <a:solidFill>
            <a:srgbClr val="EEE8DE"/>
          </a:solidFill>
          <a:ln w="5715">
            <a:solidFill>
              <a:srgbClr val="D8D1C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58368" y="51023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T6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1298448" y="510235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4141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provider 故障</a:t>
            </a:r>
            <a:endParaRPr lang="en-US" sz="920" dirty="0"/>
          </a:p>
        </p:txBody>
      </p:sp>
      <p:sp>
        <p:nvSpPr>
          <p:cNvPr id="77" name="Text 75"/>
          <p:cNvSpPr txBox="1"/>
          <p:nvPr/>
        </p:nvSpPr>
        <p:spPr>
          <a:xfrm>
            <a:off x="4709160" y="510235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文章、目錄、來源仍可讀</a:t>
            </a:r>
            <a:endParaRPr lang="en-US" sz="860" dirty="0"/>
          </a:p>
        </p:txBody>
      </p:sp>
      <p:sp>
        <p:nvSpPr>
          <p:cNvPr id="78" name="Text 76"/>
          <p:cNvSpPr txBox="1"/>
          <p:nvPr/>
        </p:nvSpPr>
        <p:spPr>
          <a:xfrm>
            <a:off x="7955280" y="5102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A48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證明 failure isolation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0497312" y="5202936"/>
            <a:ext cx="877824" cy="256032"/>
          </a:xfrm>
          <a:prstGeom prst="roundRect">
            <a:avLst>
              <a:gd name="adj" fmla="val 60714"/>
            </a:avLst>
          </a:prstGeom>
          <a:solidFill>
            <a:srgbClr val="EFE2CF"/>
          </a:solidFill>
          <a:ln w="12700">
            <a:solidFill>
              <a:srgbClr val="EFE2CF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588752" y="520293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B36B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RUN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658368" y="5870448"/>
            <a:ext cx="10881360" cy="384048"/>
          </a:xfrm>
          <a:prstGeom prst="roundRect">
            <a:avLst>
              <a:gd name="adj" fmla="val 16667"/>
            </a:avLst>
          </a:prstGeom>
          <a:solidFill>
            <a:srgbClr val="F2D7D1"/>
          </a:solidFill>
          <a:ln w="6985">
            <a:solidFill>
              <a:srgbClr val="E5B0A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41248" y="59253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9362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取消條件：若使用者首先記得 wallet／徽章／積分，卻說不出本期主題與文章脈絡，Passport public UI 應立即下線重做。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94360" y="6556248"/>
            <a:ext cx="11000232" cy="0"/>
          </a:xfrm>
          <a:prstGeom prst="line">
            <a:avLst/>
          </a:prstGeom>
          <a:noFill/>
          <a:ln w="7620">
            <a:solidFill>
              <a:srgbClr val="D3CDC2"/>
            </a:solidFill>
            <a:prstDash val="solid"/>
            <a:headEnd type="none"/>
            <a:tailEnd type="none"/>
          </a:ln>
        </p:spPr>
      </p:sp>
      <p:sp>
        <p:nvSpPr>
          <p:cNvPr id="84" name="Text 82"/>
          <p:cNvSpPr txBox="1"/>
          <p:nvPr/>
        </p:nvSpPr>
        <p:spPr>
          <a:xfrm>
            <a:off x="594360" y="658368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77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validation metrics; not yet measured. Source constraints: DESIGN.md SC/three-action budget and ADR failure boundaries.</a:t>
            </a:r>
            <a:endParaRPr lang="en-US" sz="630" dirty="0"/>
          </a:p>
        </p:txBody>
      </p:sp>
      <p:sp>
        <p:nvSpPr>
          <p:cNvPr id="85" name="Text 83"/>
          <p:cNvSpPr txBox="1"/>
          <p:nvPr/>
        </p:nvSpPr>
        <p:spPr>
          <a:xfrm>
            <a:off x="11109960" y="65562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rot="5400000">
            <a:off x="8183880" y="1325880"/>
            <a:ext cx="2011680" cy="4206240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2359152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103120"/>
            <a:ext cx="1417320" cy="0"/>
          </a:xfrm>
          <a:prstGeom prst="line">
            <a:avLst/>
          </a:prstGeom>
          <a:noFill/>
          <a:ln w="10160">
            <a:solidFill>
              <a:srgbClr val="FFFFFF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89720" y="4754880"/>
            <a:ext cx="1417320" cy="0"/>
          </a:xfrm>
          <a:prstGeom prst="line">
            <a:avLst/>
          </a:prstGeom>
          <a:noFill/>
          <a:ln w="10160">
            <a:solidFill>
              <a:srgbClr val="FFFFFF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658368" y="502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VERDICT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060704"/>
            <a:ext cx="7543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使用者來讀球；</a:t>
            </a:r>
            <a:endParaRPr lang="en-US" sz="3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系統替他留下賽季記憶。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67919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6BFB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 Courtside TW 應該守住的差異。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564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381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先完成 Home → Issue → Article → Closure 的整條 P1。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9319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913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Provenance 用人話呈現，技術詳情放第二層。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4074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Reader Stamp 只在內容價值已被感受後出現。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8828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864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Season Passport 做成球迷年鑑，不做排行榜或資產頁。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3583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5340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4F0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錢包永遠可選；外部服務永遠不能阻塞閱讀。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458200" y="1078992"/>
            <a:ext cx="2907792" cy="4526280"/>
          </a:xfrm>
          <a:prstGeom prst="roundRect">
            <a:avLst>
              <a:gd name="adj" fmla="val 3774"/>
            </a:avLst>
          </a:prstGeom>
          <a:solidFill>
            <a:srgbClr val="20201F"/>
          </a:solidFill>
          <a:ln w="8890">
            <a:solidFill>
              <a:srgbClr val="3A39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32520" y="13716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40" kern="0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AFA8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雜誌定義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18013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鮮明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32520" y="2231136"/>
            <a:ext cx="2359152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8732520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AFA8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Web3 方向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10085832" y="2468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正確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732520" y="2898648"/>
            <a:ext cx="2359152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8732520" y="3191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AFA8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目前體驗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1363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4832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未證明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32520" y="3566160"/>
            <a:ext cx="2359152" cy="0"/>
          </a:xfrm>
          <a:prstGeom prst="line">
            <a:avLst/>
          </a:prstGeom>
          <a:noFill/>
          <a:ln w="6985">
            <a:solidFill>
              <a:srgbClr val="343331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873252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AFA89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9582912" y="37856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做出第一個</a:t>
            </a:r>
            <a:endParaRPr lang="en-US" sz="17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4F0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完整 Issue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732520" y="4782312"/>
            <a:ext cx="2359152" cy="475488"/>
          </a:xfrm>
          <a:prstGeom prst="roundRect">
            <a:avLst>
              <a:gd name="adj" fmla="val 15385"/>
            </a:avLst>
          </a:prstGeom>
          <a:solidFill>
            <a:srgbClr val="D94832"/>
          </a:solidFill>
          <a:ln w="12700">
            <a:solidFill>
              <a:srgbClr val="D9483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32520" y="4800600"/>
            <a:ext cx="2359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P1 FIRST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6291072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17C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basis: current main repository + approved design and product documents. Proposed UI copy and test thresholds are recommendations.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1137392" y="6291072"/>
            <a:ext cx="310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948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Courtside 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Courtside TW — 使用者沉浸模擬與產品定義檢驗</dc:title>
  <dc:subject>Courtside TW 使用者沉浸模擬、Web3 體驗與雜誌定義檢驗</dc:subject>
  <dc:creator>OpenAI</dc:creator>
  <cp:lastModifiedBy>OpenAI</cp:lastModifiedBy>
  <cp:revision>1</cp:revision>
  <dcterms:created xsi:type="dcterms:W3CDTF">2026-08-08T03:36:06Z</dcterms:created>
  <dcterms:modified xsi:type="dcterms:W3CDTF">2026-08-08T03:36:06Z</dcterms:modified>
</cp:coreProperties>
</file>